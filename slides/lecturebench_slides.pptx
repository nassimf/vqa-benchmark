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13716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LectureBench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50292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2600" b="0" i="0">
                <a:solidFill>
                  <a:srgbClr val="DD8452"/>
                </a:solidFill>
              </a:rPr>
              <a:t>Long-Lecture Video RAG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698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 i="1">
                <a:solidFill>
                  <a:srgbClr val="AABBDD"/>
                </a:solidFill>
              </a:rPr>
              <a:t>Temporally Grounded QA over Academic Lectures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749039"/>
            <a:ext cx="5486400" cy="1645920"/>
          </a:xfrm>
          <a:prstGeom prst="rect">
            <a:avLst/>
          </a:prstGeom>
          <a:solidFill>
            <a:srgbClr val="282848"/>
          </a:solidFill>
          <a:ln w="12700">
            <a:solidFill>
              <a:srgbClr val="55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8620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Nasim Faridnia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51960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AABBDD"/>
                </a:solidFill>
              </a:rPr>
              <a:t>Department of Computer Science
University of Texas at San Antonio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920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DD8452"/>
                </a:solidFill>
              </a:rPr>
              <a:t>BMVC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840480"/>
            <a:ext cx="393192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99AACC"/>
                </a:solidFill>
              </a:rPr>
              <a:t>github.com/NassimF/VQA-Benchmark
60 lectures  |  810 QA pairs
62.6 hours  |  CC BY-NC-SA 4.0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 marL="274320"/>
            <a:r>
              <a:rPr sz="2800" b="1">
                <a:solidFill>
                  <a:srgbClr val="FFFFFF"/>
                </a:solidFill>
              </a:rPr>
              <a:t>The Problem: Long Lectures Are Underserved by Existing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A1A2E"/>
                </a:solidFill>
              </a:rPr>
              <a:t>Short-clip benchmarks dominate VideoQA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ActivityNet-QA, NExT-QA: avg &lt; 3 min per clip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EgoSchema: 3-minute egocentric clips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Optimized for moment classification, not evidence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46120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A1A2E"/>
                </a:solidFill>
              </a:rPr>
              <a:t>Lecture videos are fundamentally different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47–89 min per lecture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Answers may span segments 60+ minutes apart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Critical evidence lives on slides/whiteboards — absent from spoken transcript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051560"/>
            <a:ext cx="5669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A1A2E"/>
                </a:solidFill>
              </a:rPr>
              <a:t>Current lecture benchmarks fall short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EduVidQA: fixed 4-min context window — retrieval problem sidestepped entirely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No benchmark evaluates temporal grounding in lecture RAG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No multi-hop evidence across non-adjacent segments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3383280"/>
            <a:ext cx="5669280" cy="1737360"/>
          </a:xfrm>
          <a:prstGeom prst="rect">
            <a:avLst/>
          </a:prstGeom>
          <a:solidFill>
            <a:srgbClr val="FFEDED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E74C3C"/>
                </a:solidFill>
              </a:rPr>
              <a:t>The Gap</a:t>
            </a:r>
          </a:p>
          <a:p>
            <a:r>
              <a:rPr sz="1600">
                <a:solidFill>
                  <a:srgbClr val="444466"/>
                </a:solidFill>
              </a:rPr>
              <a:t>No benchmark evaluates whether a RAG system retrieves the right moment from a long lecture — not merely a semantically similar one.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1005840"/>
            <a:ext cx="11457432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" y="3154680"/>
            <a:ext cx="11457432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 marL="274320"/>
            <a:r>
              <a:rPr sz="2800" b="1">
                <a:solidFill>
                  <a:srgbClr val="FFFFFF"/>
                </a:solidFill>
              </a:rPr>
              <a:t>Comparison with Related Benchmarks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1005840"/>
            <a:ext cx="2103120" cy="402336"/>
          </a:xfrm>
          <a:prstGeom prst="rect">
            <a:avLst/>
          </a:prstGeom>
          <a:solidFill>
            <a:srgbClr val="1A1A2E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2423160" y="1005840"/>
            <a:ext cx="1280160" cy="402336"/>
          </a:xfrm>
          <a:prstGeom prst="rect">
            <a:avLst/>
          </a:prstGeom>
          <a:solidFill>
            <a:srgbClr val="1A1A2E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Domain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3703320" y="1005840"/>
            <a:ext cx="1005840" cy="402336"/>
          </a:xfrm>
          <a:prstGeom prst="rect">
            <a:avLst/>
          </a:prstGeom>
          <a:solidFill>
            <a:srgbClr val="1A1A2E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#Videos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09160" y="1005840"/>
            <a:ext cx="1188720" cy="402336"/>
          </a:xfrm>
          <a:prstGeom prst="rect">
            <a:avLst/>
          </a:prstGeom>
          <a:solidFill>
            <a:srgbClr val="1A1A2E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#QA Pairs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897880" y="1005840"/>
            <a:ext cx="1371600" cy="402336"/>
          </a:xfrm>
          <a:prstGeom prst="rect">
            <a:avLst/>
          </a:prstGeom>
          <a:solidFill>
            <a:srgbClr val="1A1A2E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Avg Duration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269480" y="1005840"/>
            <a:ext cx="1280160" cy="402336"/>
          </a:xfrm>
          <a:prstGeom prst="rect">
            <a:avLst/>
          </a:prstGeom>
          <a:solidFill>
            <a:srgbClr val="1A1A2E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Multi-hop</a:t>
            </a:r>
          </a:p>
        </p:txBody>
      </p:sp>
      <p:sp>
        <p:nvSpPr>
          <p:cNvPr id="9" name="Rectangle 8"/>
          <p:cNvSpPr/>
          <p:nvPr/>
        </p:nvSpPr>
        <p:spPr>
          <a:xfrm>
            <a:off x="8549640" y="1005840"/>
            <a:ext cx="1737360" cy="402336"/>
          </a:xfrm>
          <a:prstGeom prst="rect">
            <a:avLst/>
          </a:prstGeom>
          <a:solidFill>
            <a:srgbClr val="1A1A2E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Temporal+Visual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08176"/>
            <a:ext cx="21031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44466"/>
                </a:solidFill>
              </a:rPr>
              <a:t>NExT-QA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1408176"/>
            <a:ext cx="12801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General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408176"/>
            <a:ext cx="1005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5,440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1408176"/>
            <a:ext cx="11887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52,044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97880" y="1408176"/>
            <a:ext cx="1371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44 sec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80" y="1408176"/>
            <a:ext cx="12801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49640" y="1408176"/>
            <a:ext cx="1737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810512"/>
            <a:ext cx="2103120" cy="402336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44466"/>
                </a:solidFill>
              </a:rPr>
              <a:t>EgoSchema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3160" y="1810512"/>
            <a:ext cx="1280160" cy="402336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Egocentric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1810512"/>
            <a:ext cx="1005840" cy="402336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1810512"/>
            <a:ext cx="1188720" cy="402336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5,031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97880" y="1810512"/>
            <a:ext cx="1371600" cy="402336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3 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9480" y="1810512"/>
            <a:ext cx="1280160" cy="402336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1810512"/>
            <a:ext cx="1737360" cy="402336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212848"/>
            <a:ext cx="21031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44466"/>
                </a:solidFill>
              </a:rPr>
              <a:t>NA-VQA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23160" y="2212848"/>
            <a:ext cx="12801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Movies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03320" y="2212848"/>
            <a:ext cx="1005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88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09160" y="2212848"/>
            <a:ext cx="11887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4,442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97880" y="2212848"/>
            <a:ext cx="1371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80–200 min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69480" y="2212848"/>
            <a:ext cx="12801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implicit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49640" y="2212848"/>
            <a:ext cx="1737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615184"/>
            <a:ext cx="2103120" cy="402336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44466"/>
                </a:solidFill>
              </a:rPr>
              <a:t>LongVidSearch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23160" y="2615184"/>
            <a:ext cx="1280160" cy="402336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Mixed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03320" y="2615184"/>
            <a:ext cx="1005840" cy="402336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447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09160" y="2615184"/>
            <a:ext cx="1188720" cy="402336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3,000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97880" y="2615184"/>
            <a:ext cx="1371600" cy="402336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26 min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69480" y="2615184"/>
            <a:ext cx="1280160" cy="402336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49640" y="2615184"/>
            <a:ext cx="1737360" cy="402336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3017520"/>
            <a:ext cx="21031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44466"/>
                </a:solidFill>
              </a:rPr>
              <a:t>EduVidQA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23160" y="3017520"/>
            <a:ext cx="12801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Lectures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03320" y="3017520"/>
            <a:ext cx="1005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296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09160" y="3017520"/>
            <a:ext cx="11887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5,252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97880" y="3017520"/>
            <a:ext cx="1371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68 min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69480" y="3017520"/>
            <a:ext cx="12801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49640" y="3017520"/>
            <a:ext cx="1737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3419856"/>
            <a:ext cx="2103120" cy="402336"/>
          </a:xfrm>
          <a:prstGeom prst="rect">
            <a:avLst/>
          </a:prstGeom>
          <a:solidFill>
            <a:srgbClr val="FFF080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1A2E"/>
                </a:solidFill>
              </a:rPr>
              <a:t>LectureBench (ours)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23160" y="3419856"/>
            <a:ext cx="1280160" cy="402336"/>
          </a:xfrm>
          <a:prstGeom prst="rect">
            <a:avLst/>
          </a:prstGeom>
          <a:solidFill>
            <a:srgbClr val="FFF080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A1A2E"/>
                </a:solidFill>
              </a:rPr>
              <a:t>Lectures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03320" y="3419856"/>
            <a:ext cx="1005840" cy="402336"/>
          </a:xfrm>
          <a:prstGeom prst="rect">
            <a:avLst/>
          </a:prstGeom>
          <a:solidFill>
            <a:srgbClr val="FFF080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A1A2E"/>
                </a:solidFill>
              </a:rPr>
              <a:t>60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09160" y="3419856"/>
            <a:ext cx="1188720" cy="402336"/>
          </a:xfrm>
          <a:prstGeom prst="rect">
            <a:avLst/>
          </a:prstGeom>
          <a:solidFill>
            <a:srgbClr val="FFF080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A1A2E"/>
                </a:solidFill>
              </a:rPr>
              <a:t>810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97880" y="3419856"/>
            <a:ext cx="1371600" cy="402336"/>
          </a:xfrm>
          <a:prstGeom prst="rect">
            <a:avLst/>
          </a:prstGeom>
          <a:solidFill>
            <a:srgbClr val="FFF080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A1A2E"/>
                </a:solidFill>
              </a:rPr>
              <a:t>63 min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69480" y="3419856"/>
            <a:ext cx="1280160" cy="402336"/>
          </a:xfrm>
          <a:prstGeom prst="rect">
            <a:avLst/>
          </a:prstGeom>
          <a:solidFill>
            <a:srgbClr val="FFF080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A1A2E"/>
                </a:solidFill>
              </a:rPr>
              <a:t>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49640" y="3419856"/>
            <a:ext cx="1737360" cy="402336"/>
          </a:xfrm>
          <a:prstGeom prst="rect">
            <a:avLst/>
          </a:prstGeom>
          <a:solidFill>
            <a:srgbClr val="FFF080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A1A2E"/>
                </a:solidFill>
              </a:rPr>
              <a:t>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166360"/>
            <a:ext cx="3657600" cy="868680"/>
          </a:xfrm>
          <a:prstGeom prst="rect">
            <a:avLst/>
          </a:prstGeom>
          <a:solidFill>
            <a:srgbClr val="EEF2FF"/>
          </a:solidFill>
          <a:ln w="19050">
            <a:solidFill>
              <a:srgbClr val="4C7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C72B0"/>
                </a:solidFill>
              </a:rPr>
              <a:t>Gap 1: No benchmark is
multi-hop AND lecture-domain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97680" y="5166360"/>
            <a:ext cx="3657600" cy="868680"/>
          </a:xfrm>
          <a:prstGeom prst="rect">
            <a:avLst/>
          </a:prstGeom>
          <a:solidFill>
            <a:srgbClr val="FFF0E8"/>
          </a:solidFill>
          <a:ln w="19050">
            <a:solidFill>
              <a:srgbClr val="DD8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DD8452"/>
                </a:solidFill>
              </a:rPr>
              <a:t>Gap 2: No benchmark has
timestamp spans AND visual split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0" y="5166360"/>
            <a:ext cx="3657600" cy="868680"/>
          </a:xfrm>
          <a:prstGeom prst="rect">
            <a:avLst/>
          </a:prstGeom>
          <a:solidFill>
            <a:srgbClr val="FFEDED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74C3C"/>
                </a:solidFill>
              </a:rPr>
              <a:t>Gap 3: EduVidQA sidesteps
retrieval with 4-min windows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 marL="274320"/>
            <a:r>
              <a:rPr sz="2800" b="1">
                <a:solidFill>
                  <a:srgbClr val="FFFFFF"/>
                </a:solidFill>
              </a:rPr>
              <a:t>Our Contributions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1170432"/>
            <a:ext cx="502920" cy="50292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124712"/>
            <a:ext cx="106070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900" b="1" i="0">
                <a:solidFill>
                  <a:srgbClr val="4C72B0"/>
                </a:solidFill>
              </a:rPr>
              <a:t>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536192"/>
            <a:ext cx="1060704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444466"/>
                </a:solidFill>
              </a:rPr>
              <a:t>60 CC-licensed academic lecture videos (62.6 hours) across 15 courses from MIT OCW, NYU Deep Learning, and Stanford SEE.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2304288"/>
            <a:ext cx="11457432" cy="0"/>
          </a:xfrm>
          <a:prstGeom prst="line">
            <a:avLst/>
          </a:prstGeom>
          <a:ln w="12700">
            <a:solidFill>
              <a:srgbClr val="DD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20040" y="2468880"/>
            <a:ext cx="502920" cy="502920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106070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900" b="1" i="0">
                <a:solidFill>
                  <a:srgbClr val="DD8452"/>
                </a:solidFill>
              </a:rPr>
              <a:t>Benchmark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0704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444466"/>
                </a:solidFill>
              </a:rPr>
              <a:t>810 LLM-reviewed QA pairs with precise temporal ground-truth spans, typed by multi-hop-visual, visual, multi-hop, text, and unanswerable categories.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" y="3602736"/>
            <a:ext cx="11457432" cy="0"/>
          </a:xfrm>
          <a:prstGeom prst="line">
            <a:avLst/>
          </a:prstGeom>
          <a:ln w="12700">
            <a:solidFill>
              <a:srgbClr val="DD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20040" y="3767328"/>
            <a:ext cx="502920" cy="502920"/>
          </a:xfrm>
          <a:prstGeom prst="rect">
            <a:avLst/>
          </a:prstGeom>
          <a:solidFill>
            <a:srgbClr val="55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21608"/>
            <a:ext cx="106070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900" b="1" i="0">
                <a:solidFill>
                  <a:srgbClr val="55A868"/>
                </a:solidFill>
              </a:rPr>
              <a:t>Open-source RAG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133088"/>
            <a:ext cx="1060704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444466"/>
                </a:solidFill>
              </a:rPr>
              <a:t>Two retrieval configurations (transcript-only vs transcript+frames) with a full evaluation suite: temporal IoU, Hit Rate@k, LLM-judge, citation accuracy.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" y="4901184"/>
            <a:ext cx="11457432" cy="0"/>
          </a:xfrm>
          <a:prstGeom prst="line">
            <a:avLst/>
          </a:prstGeom>
          <a:ln w="12700">
            <a:solidFill>
              <a:srgbClr val="DD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20040" y="5065776"/>
            <a:ext cx="502920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020056"/>
            <a:ext cx="106070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900" b="1" i="0">
                <a:solidFill>
                  <a:srgbClr val="E74C3C"/>
                </a:solidFill>
              </a:rPr>
              <a:t>Empirical Finding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431536"/>
            <a:ext cx="1060704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444466"/>
                </a:solidFill>
              </a:rPr>
              <a:t>Visual frame captions yield +65% tIoU on visual-dependent questions and are essentially unchanged (–3%) on text-only questions — precisely isolating the multimodal contribution.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5760" y="6199632"/>
            <a:ext cx="11457432" cy="0"/>
          </a:xfrm>
          <a:prstGeom prst="line">
            <a:avLst/>
          </a:prstGeom>
          <a:ln w="12700">
            <a:solidFill>
              <a:srgbClr val="DD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 marL="274320"/>
            <a:r>
              <a:rPr sz="2800" b="1">
                <a:solidFill>
                  <a:srgbClr val="FFFFFF"/>
                </a:solidFill>
              </a:rPr>
              <a:t>LectureBench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1005840"/>
            <a:ext cx="3108960" cy="365760"/>
          </a:xfrm>
          <a:prstGeom prst="rect">
            <a:avLst/>
          </a:prstGeom>
          <a:solidFill>
            <a:srgbClr val="1A1A2E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Statistic</a:t>
            </a:r>
          </a:p>
        </p:txBody>
      </p:sp>
      <p:sp>
        <p:nvSpPr>
          <p:cNvPr id="4" name="Rectangle 3"/>
          <p:cNvSpPr/>
          <p:nvPr/>
        </p:nvSpPr>
        <p:spPr>
          <a:xfrm>
            <a:off x="3429000" y="1005840"/>
            <a:ext cx="2743200" cy="365760"/>
          </a:xfrm>
          <a:prstGeom prst="rect">
            <a:avLst/>
          </a:prstGeom>
          <a:solidFill>
            <a:srgbClr val="1A1A2E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3108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44466"/>
                </a:solidFill>
              </a:rPr>
              <a:t>Lectures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1371600"/>
            <a:ext cx="2743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60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737360"/>
            <a:ext cx="3108960" cy="36576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44466"/>
                </a:solidFill>
              </a:rPr>
              <a:t>Sources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737360"/>
            <a:ext cx="2743200" cy="36576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MIT OCW, NYU DL, Stanford SEE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103120"/>
            <a:ext cx="3108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44466"/>
                </a:solidFill>
              </a:rPr>
              <a:t>Total duration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2103120"/>
            <a:ext cx="2743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62.6 hours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468880"/>
            <a:ext cx="3108960" cy="36576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44466"/>
                </a:solidFill>
              </a:rPr>
              <a:t>Duration range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2468880"/>
            <a:ext cx="2743200" cy="36576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47–89 min (avg 63 min)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834640"/>
            <a:ext cx="3108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44466"/>
                </a:solidFill>
              </a:rPr>
              <a:t>Transcript chunks (45s/35s)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2834640"/>
            <a:ext cx="2743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7,382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200400"/>
            <a:ext cx="3108960" cy="36576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44466"/>
                </a:solidFill>
              </a:rPr>
              <a:t>Frames captioned (every 15s)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3200400"/>
            <a:ext cx="2743200" cy="36576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17,180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566160"/>
            <a:ext cx="3108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44466"/>
                </a:solidFill>
              </a:rPr>
              <a:t>QA pairs (accepted)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9000" y="3566160"/>
            <a:ext cx="2743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810 (avg 13.5/lecture)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931920"/>
            <a:ext cx="3108960" cy="36576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44466"/>
                </a:solidFill>
              </a:rPr>
              <a:t>Visual-dependent pairs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3931920"/>
            <a:ext cx="2743200" cy="36576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56.2%  (455/810)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005840"/>
            <a:ext cx="2651760" cy="402336"/>
          </a:xfrm>
          <a:prstGeom prst="rect">
            <a:avLst/>
          </a:prstGeom>
          <a:solidFill>
            <a:srgbClr val="1A1A2E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Question Type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1005840"/>
            <a:ext cx="1097280" cy="402336"/>
          </a:xfrm>
          <a:prstGeom prst="rect">
            <a:avLst/>
          </a:prstGeom>
          <a:solidFill>
            <a:srgbClr val="1A1A2E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Count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49840" y="1005840"/>
            <a:ext cx="1645920" cy="402336"/>
          </a:xfrm>
          <a:prstGeom prst="rect">
            <a:avLst/>
          </a:prstGeom>
          <a:solidFill>
            <a:srgbClr val="1A1A2E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408176"/>
            <a:ext cx="26517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444466"/>
                </a:solidFill>
              </a:rPr>
              <a:t>Multi-hop visual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1408176"/>
            <a:ext cx="10972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320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49840" y="1408176"/>
            <a:ext cx="1645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Primary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810512"/>
            <a:ext cx="2651760" cy="402336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444466"/>
                </a:solidFill>
              </a:rPr>
              <a:t>Single-hop visual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1810512"/>
            <a:ext cx="1097280" cy="402336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135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49840" y="1810512"/>
            <a:ext cx="1645920" cy="402336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Primary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212848"/>
            <a:ext cx="26517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444466"/>
                </a:solidFill>
              </a:rPr>
              <a:t>Multi-hop textual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52560" y="2212848"/>
            <a:ext cx="10972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140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49840" y="2212848"/>
            <a:ext cx="1645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Control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2615184"/>
            <a:ext cx="2651760" cy="402336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444466"/>
                </a:solidFill>
              </a:rPr>
              <a:t>Single-hop textual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52560" y="2615184"/>
            <a:ext cx="1097280" cy="402336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103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49840" y="2615184"/>
            <a:ext cx="1645920" cy="402336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Control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3017520"/>
            <a:ext cx="26517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444466"/>
                </a:solidFill>
              </a:rPr>
              <a:t>Unanswerable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52560" y="3017520"/>
            <a:ext cx="10972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112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49840" y="3017520"/>
            <a:ext cx="1645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Required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3419856"/>
            <a:ext cx="2651760" cy="402336"/>
          </a:xfrm>
          <a:prstGeom prst="rect">
            <a:avLst/>
          </a:prstGeom>
          <a:solidFill>
            <a:srgbClr val="FFF080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2E"/>
                </a:solidFill>
              </a:rPr>
              <a:t>Total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52560" y="3419856"/>
            <a:ext cx="1097280" cy="402336"/>
          </a:xfrm>
          <a:prstGeom prst="rect">
            <a:avLst/>
          </a:prstGeom>
          <a:solidFill>
            <a:srgbClr val="FFF080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1A1A2E"/>
                </a:solidFill>
              </a:rPr>
              <a:t>810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49840" y="3419856"/>
            <a:ext cx="1645920" cy="402336"/>
          </a:xfrm>
          <a:prstGeom prst="rect">
            <a:avLst/>
          </a:prstGeom>
          <a:solidFill>
            <a:srgbClr val="FFF080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931920"/>
            <a:ext cx="5394960" cy="2377440"/>
          </a:xfrm>
          <a:prstGeom prst="rect">
            <a:avLst/>
          </a:prstGeom>
          <a:solidFill>
            <a:srgbClr val="E8ECF8"/>
          </a:solidFill>
          <a:ln w="12700">
            <a:solidFill>
              <a:srgbClr val="4C7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4892040"/>
            <a:ext cx="5394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1">
                <a:solidFill>
                  <a:srgbClr val="4C72B0"/>
                </a:solidFill>
              </a:rPr>
              <a:t>[ Insert Figure 6 — QA type distribution bar chart 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635508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777799"/>
                </a:solidFill>
              </a:rPr>
              <a:t>Dataset released under CC BY-NC-SA 4.0  |  github.com/NassimF/VQA-Benchmark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 marL="274320"/>
            <a:r>
              <a:rPr sz="2800" b="1">
                <a:solidFill>
                  <a:srgbClr val="FFFFFF"/>
                </a:solidFill>
              </a:rPr>
              <a:t>End-to-End Pipeline  (Figure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960120"/>
            <a:ext cx="6400800" cy="5166360"/>
          </a:xfrm>
          <a:prstGeom prst="rect">
            <a:avLst/>
          </a:prstGeom>
          <a:solidFill>
            <a:srgbClr val="EEF2F8"/>
          </a:solidFill>
          <a:ln w="1270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960120"/>
            <a:ext cx="5029200" cy="5166360"/>
          </a:xfrm>
          <a:prstGeom prst="rect">
            <a:avLst/>
          </a:prstGeom>
          <a:solidFill>
            <a:srgbClr val="FEF6EF"/>
          </a:solidFill>
          <a:ln w="12700">
            <a:solidFill>
              <a:srgbClr val="DD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87552"/>
            <a:ext cx="3200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444466"/>
                </a:solidFill>
              </a:rPr>
              <a:t>Offline Indexing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987552"/>
            <a:ext cx="3657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444466"/>
                </a:solidFill>
              </a:rPr>
              <a:t>Online Query &amp; Evaluation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1371600" cy="502920"/>
          </a:xfrm>
          <a:prstGeom prst="rect">
            <a:avLst/>
          </a:prstGeom>
          <a:solidFill>
            <a:srgbClr val="777788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Lecture
Video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1508760"/>
            <a:ext cx="1371600" cy="502920"/>
          </a:xfrm>
          <a:prstGeom prst="rect">
            <a:avLst/>
          </a:prstGeom>
          <a:solidFill>
            <a:srgbClr val="777788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VTT
Transcript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508760"/>
            <a:ext cx="1371600" cy="502920"/>
          </a:xfrm>
          <a:prstGeom prst="rect">
            <a:avLst/>
          </a:prstGeom>
          <a:solidFill>
            <a:srgbClr val="777788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Chunker
45s/35s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508760"/>
            <a:ext cx="1554480" cy="502920"/>
          </a:xfrm>
          <a:prstGeom prst="rect">
            <a:avLst/>
          </a:prstGeom>
          <a:solidFill>
            <a:srgbClr val="4C72B0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Config 1
Transcript Only
(ChromaDB)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37360" y="1760220.0"/>
            <a:ext cx="182880" cy="0.0"/>
          </a:xfrm>
          <a:prstGeom prst="bentConnector3">
            <a:avLst/>
          </a:prstGeom>
          <a:ln w="19050">
            <a:solidFill>
              <a:srgbClr val="7777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91840" y="1760220.0"/>
            <a:ext cx="182880" cy="0.0"/>
          </a:xfrm>
          <a:prstGeom prst="bentConnector3">
            <a:avLst/>
          </a:prstGeom>
          <a:ln w="19050">
            <a:solidFill>
              <a:srgbClr val="7777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46320" y="1760220.0"/>
            <a:ext cx="182880" cy="0.0"/>
          </a:xfrm>
          <a:prstGeom prst="bentConnector3">
            <a:avLst/>
          </a:prstGeom>
          <a:ln w="19050">
            <a:solidFill>
              <a:srgbClr val="4C7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474720" y="2834640"/>
            <a:ext cx="1371600" cy="502920"/>
          </a:xfrm>
          <a:prstGeom prst="rect">
            <a:avLst/>
          </a:prstGeom>
          <a:solidFill>
            <a:srgbClr val="DD8452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Frame Caps
Qwen2-VL-7B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834640"/>
            <a:ext cx="1554480" cy="502920"/>
          </a:xfrm>
          <a:prstGeom prst="rect">
            <a:avLst/>
          </a:prstGeom>
          <a:solidFill>
            <a:srgbClr val="DD8452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Config 2
Text + Captions
(ChromaDB)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51560.0" y="2011680"/>
            <a:ext cx="0.0" cy="1074420.0"/>
          </a:xfrm>
          <a:prstGeom prst="bentConnector3">
            <a:avLst/>
          </a:prstGeom>
          <a:ln w="19050">
            <a:solidFill>
              <a:srgbClr val="DD84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51560.0" y="3086100.0"/>
            <a:ext cx="2423160.0" cy="0.0"/>
          </a:xfrm>
          <a:prstGeom prst="bentConnector3">
            <a:avLst/>
          </a:prstGeom>
          <a:ln w="19050">
            <a:solidFill>
              <a:srgbClr val="DD84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846320" y="3086100.0"/>
            <a:ext cx="182880" cy="0.0"/>
          </a:xfrm>
          <a:prstGeom prst="bentConnector3">
            <a:avLst/>
          </a:prstGeom>
          <a:ln w="19050">
            <a:solidFill>
              <a:srgbClr val="DD84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949440" y="1508760"/>
            <a:ext cx="1371600" cy="502920"/>
          </a:xfrm>
          <a:prstGeom prst="rect">
            <a:avLst/>
          </a:prstGeom>
          <a:solidFill>
            <a:srgbClr val="777788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Retriever
top-k cosine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1508760"/>
            <a:ext cx="1371600" cy="502920"/>
          </a:xfrm>
          <a:prstGeom prst="rect">
            <a:avLst/>
          </a:prstGeom>
          <a:solidFill>
            <a:srgbClr val="777788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Generator
GPT-4o-mini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0" y="1508760"/>
            <a:ext cx="1371600" cy="502920"/>
          </a:xfrm>
          <a:prstGeom prst="rect">
            <a:avLst/>
          </a:prstGeom>
          <a:solidFill>
            <a:srgbClr val="777788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Answer +
Citations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83680" y="1760220.0"/>
            <a:ext cx="365760" cy="0.0"/>
          </a:xfrm>
          <a:prstGeom prst="bentConnector3">
            <a:avLst/>
          </a:prstGeom>
          <a:ln w="19050">
            <a:solidFill>
              <a:srgbClr val="4C7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583680" y="3086100.0"/>
            <a:ext cx="1051560.0" cy="0.0"/>
          </a:xfrm>
          <a:prstGeom prst="bentConnector3">
            <a:avLst/>
          </a:prstGeom>
          <a:ln w="19050">
            <a:solidFill>
              <a:srgbClr val="DD84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635240.0" y="2011680"/>
            <a:ext cx="0.0" cy="1074420.0"/>
          </a:xfrm>
          <a:prstGeom prst="bentConnector3">
            <a:avLst/>
          </a:prstGeom>
          <a:ln w="19050">
            <a:solidFill>
              <a:srgbClr val="DD84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321040" y="1760220.0"/>
            <a:ext cx="182880" cy="0.0"/>
          </a:xfrm>
          <a:prstGeom prst="bentConnector3">
            <a:avLst/>
          </a:prstGeom>
          <a:ln w="19050">
            <a:solidFill>
              <a:srgbClr val="7777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875520" y="1760220.0"/>
            <a:ext cx="182880" cy="0.0"/>
          </a:xfrm>
          <a:prstGeom prst="bentConnector3">
            <a:avLst/>
          </a:prstGeom>
          <a:ln w="19050">
            <a:solidFill>
              <a:srgbClr val="7777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949440" y="2834640"/>
            <a:ext cx="1371600" cy="502920"/>
          </a:xfrm>
          <a:prstGeom prst="rect">
            <a:avLst/>
          </a:prstGeom>
          <a:solidFill>
            <a:srgbClr val="55A868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GT Spans
(Benchmark)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03920" y="2834640"/>
            <a:ext cx="1371600" cy="502920"/>
          </a:xfrm>
          <a:prstGeom prst="rect">
            <a:avLst/>
          </a:prstGeom>
          <a:solidFill>
            <a:srgbClr val="55A868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Evaluator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0" y="2834640"/>
            <a:ext cx="1371600" cy="502920"/>
          </a:xfrm>
          <a:prstGeom prst="rect">
            <a:avLst/>
          </a:prstGeom>
          <a:solidFill>
            <a:srgbClr val="55A868"/>
          </a:solidFill>
          <a:ln w="952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tIoU · HR@k
Judge · Cit.Acc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9532620.0" y="2011680"/>
            <a:ext cx="1211580.0" cy="822960"/>
          </a:xfrm>
          <a:prstGeom prst="bentConnector3">
            <a:avLst/>
          </a:prstGeom>
          <a:ln w="19050">
            <a:solidFill>
              <a:srgbClr val="55A8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321040" y="3086100.0"/>
            <a:ext cx="182880" cy="0.0"/>
          </a:xfrm>
          <a:prstGeom prst="bentConnector3">
            <a:avLst/>
          </a:prstGeom>
          <a:ln w="19050">
            <a:solidFill>
              <a:srgbClr val="55A8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875520" y="3086100.0"/>
            <a:ext cx="182880" cy="0.0"/>
          </a:xfrm>
          <a:prstGeom prst="bentConnector3">
            <a:avLst/>
          </a:prstGeom>
          <a:ln w="19050">
            <a:solidFill>
              <a:srgbClr val="55A8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74320" y="4114800"/>
            <a:ext cx="116128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1">
                <a:solidFill>
                  <a:srgbClr val="444466"/>
                </a:solidFill>
              </a:rPr>
              <a:t>Both configs share the same retriever, generator, and evaluator — the only variable is chunk content (transcript text vs. transcript + frame captions).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029200"/>
            <a:ext cx="256032" cy="201168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001768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44466"/>
                </a:solidFill>
              </a:rPr>
              <a:t>Config 1 (transcript only)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0" y="5029200"/>
            <a:ext cx="256032" cy="201168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20440" y="5001768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44466"/>
                </a:solidFill>
              </a:rPr>
              <a:t>Config 2 (transcript + frame captions)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5029200"/>
            <a:ext cx="256032" cy="201168"/>
          </a:xfrm>
          <a:prstGeom prst="rect">
            <a:avLst/>
          </a:prstGeom>
          <a:solidFill>
            <a:srgbClr val="55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78040" y="5001768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44466"/>
                </a:solidFill>
              </a:rPr>
              <a:t>Evaluation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 marL="274320"/>
            <a:r>
              <a:rPr sz="2800" b="1">
                <a:solidFill>
                  <a:srgbClr val="FFFFFF"/>
                </a:solidFill>
              </a:rPr>
              <a:t>Pipeline: Temporal Chunking &amp; Frame Captioning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5486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A1A2E"/>
                </a:solidFill>
              </a:rPr>
              <a:t>Temporal Chunking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Window: 45 seconds  |  Stride: 35 seconds (10s overlap)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45s ≈ one complete concept explanation per lecture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Overlap ensures evidence near chunk boundaries appears in both neighbours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7,382 chunks across 60 lectures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No shot boundaries in lectures — fixed windows are the only practical choice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3657600"/>
            <a:ext cx="5486400" cy="1097280"/>
          </a:xfrm>
          <a:prstGeom prst="rect">
            <a:avLst/>
          </a:prstGeom>
          <a:solidFill>
            <a:srgbClr val="E8F0FF"/>
          </a:solidFill>
          <a:ln w="19050">
            <a:solidFill>
              <a:srgbClr val="4C7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4C72B0"/>
                </a:solidFill>
              </a:rPr>
              <a:t>Why not shot-boundary chunking?</a:t>
            </a:r>
          </a:p>
          <a:p>
            <a:r>
              <a:rPr sz="1500">
                <a:solidFill>
                  <a:srgbClr val="444466"/>
                </a:solidFill>
              </a:rPr>
              <a:t>Lecture recordings have no camera cuts. Fixed-width sliding windows keep the pipeline simple and the comparison interpretable.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577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A1A2E"/>
                </a:solidFill>
              </a:rPr>
              <a:t>Frame Captioning  (Config 2 only)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1 frame extracted every 15s via ffmpeg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Captioned by Qwen2-VL-7B-Instruct (bfloat16, single A100)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Prompt: describe all visible text, equations, diagrams in detail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Caption appended as [frame caption: …] to chunk text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17,180 frames total  |  ~3 frames per chunk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Cost: ~2–8 GPU-hours for all 60 lectures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3886200"/>
            <a:ext cx="5577840" cy="1005840"/>
          </a:xfrm>
          <a:prstGeom prst="rect">
            <a:avLst/>
          </a:prstGeom>
          <a:solidFill>
            <a:srgbClr val="E8F4E8"/>
          </a:solidFill>
          <a:ln w="19050">
            <a:solidFill>
              <a:srgbClr val="55A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1A2E"/>
                </a:solidFill>
              </a:rPr>
              <a:t>Key Design Choice</a:t>
            </a:r>
          </a:p>
          <a:p>
            <a:r>
              <a:rPr sz="1500">
                <a:solidFill>
                  <a:srgbClr val="444466"/>
                </a:solidFill>
              </a:rPr>
              <a:t>Appending captions as plain text keeps the embedding model fixed across both configs — performance differences are due to chunk content alone.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 marL="274320"/>
            <a:r>
              <a:rPr sz="2800" b="1">
                <a:solidFill>
                  <a:srgbClr val="FFFFFF"/>
                </a:solidFill>
              </a:rPr>
              <a:t>Pipeline: Retrieval &amp; Answer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5577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A1A2E"/>
                </a:solidFill>
              </a:rPr>
              <a:t>Retrieval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Embedding: all-MiniLM-L6-v2  (384-dim, Sentence-BERT)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Vector store: ChromaDB — two persistent collections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   • transcript_only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   • transcript_plus_frames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Query-time: top-k cosine similarity,  k ∈ {1, 3, 5}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Same model + store for both configs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4160520"/>
            <a:ext cx="5577840" cy="1005840"/>
          </a:xfrm>
          <a:prstGeom prst="rect">
            <a:avLst/>
          </a:prstGeom>
          <a:solidFill>
            <a:srgbClr val="E8F0FF"/>
          </a:solidFill>
          <a:ln w="19050">
            <a:solidFill>
              <a:srgbClr val="4C7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4C72B0"/>
                </a:solidFill>
              </a:rPr>
              <a:t>Controlled comparison</a:t>
            </a:r>
          </a:p>
          <a:p>
            <a:r>
              <a:rPr sz="1500">
                <a:solidFill>
                  <a:srgbClr val="444466"/>
                </a:solidFill>
              </a:rPr>
              <a:t>Fixing the embedding model means any difference in results is solely attributable to what text was embedded — not to retrieval capacity.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577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A1A2E"/>
                </a:solidFill>
              </a:rPr>
              <a:t>Answer Generation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Generator: GPT-4o-mini at temperature 0.1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Input: retrieved chunks as numbered excerpts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Output: structured JSON  →  answer  +  citations list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Predicted span = union of all cited chunk time windows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Citations rendered as [video_id @ mm:ss to mm:ss]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4160520"/>
            <a:ext cx="5577840" cy="1005840"/>
          </a:xfrm>
          <a:prstGeom prst="rect">
            <a:avLst/>
          </a:prstGeom>
          <a:solidFill>
            <a:srgbClr val="FFEDED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74C3C"/>
                </a:solidFill>
              </a:rPr>
              <a:t>Why a weaker generator?</a:t>
            </a:r>
          </a:p>
          <a:p>
            <a:r>
              <a:rPr sz="1500">
                <a:solidFill>
                  <a:srgbClr val="444466"/>
                </a:solidFill>
              </a:rPr>
              <a:t>Using GPT-4o-mini isolates retrieval failures that a stronger model might mask by drawing on world knowledge outside the retrieved chunks.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 marL="274320"/>
            <a:r>
              <a:rPr sz="2800" b="1">
                <a:solidFill>
                  <a:srgbClr val="FFFFFF"/>
                </a:solidFill>
              </a:rPr>
              <a:t>Benchmark Construction: QA Generation &amp; LLM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5577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A1A2E"/>
                </a:solidFill>
              </a:rPr>
              <a:t>QA Generation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Claude Sonnet 4.6 generates 15 draft QA pairs per lecture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Input: augmented chunks (transcript + frame captions)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5 types targeted: multi-hop-visual (7), visual (2), multi-hop (3), text (2), unanswerable (1)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Multi-hop: ≥2 non-adjacent spans, gap ≥ 70s required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Total API cost: ~$8 for all 60 lectures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3977639"/>
            <a:ext cx="5577840" cy="1097280"/>
          </a:xfrm>
          <a:prstGeom prst="rect">
            <a:avLst/>
          </a:prstGeom>
          <a:solidFill>
            <a:srgbClr val="E8F0FF"/>
          </a:solidFill>
          <a:ln w="19050">
            <a:solidFill>
              <a:srgbClr val="4C7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4C72B0"/>
                </a:solidFill>
              </a:rPr>
              <a:t>Generator ≠ Evaluator (intentional)</a:t>
            </a:r>
          </a:p>
          <a:p>
            <a:r>
              <a:rPr sz="1400">
                <a:solidFill>
                  <a:srgbClr val="444466"/>
                </a:solidFill>
              </a:rPr>
              <a:t>QA generation uses Claude Sonnet 4.6; answer generation at eval time uses GPT-4o-mini. Using the same model for both would be circular — the generator would reproduce its own phrasing regardless of retrieval quality.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577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A1A2E"/>
                </a:solidFill>
              </a:rPr>
              <a:t>LLM Review (two-pass filter)</a:t>
            </a:r>
          </a:p>
          <a:p>
            <a:pPr algn="l" marL="228600" indent="-137160">
              <a:spcAft>
                <a:spcPts val="600"/>
              </a:spcAft>
            </a:pPr>
            <a:r>
              <a:rPr sz="1500">
                <a:solidFill>
                  <a:srgbClr val="444466"/>
                </a:solidFill>
              </a:rPr>
              <a:t>•  Pass 1 — Claude Sonnet 4.6 — three-criterion binary rubric:</a:t>
            </a:r>
          </a:p>
          <a:p>
            <a:pPr algn="l" marL="228600" indent="-137160">
              <a:spcAft>
                <a:spcPts val="600"/>
              </a:spcAft>
            </a:pPr>
            <a:r>
              <a:rPr sz="1500">
                <a:solidFill>
                  <a:srgbClr val="444466"/>
                </a:solidFill>
              </a:rPr>
              <a:t>•     C1: answer correctness vs. chunk text</a:t>
            </a:r>
          </a:p>
          <a:p>
            <a:pPr algn="l" marL="228600" indent="-137160">
              <a:spcAft>
                <a:spcPts val="600"/>
              </a:spcAft>
            </a:pPr>
            <a:r>
              <a:rPr sz="1500">
                <a:solidFill>
                  <a:srgbClr val="444466"/>
                </a:solidFill>
              </a:rPr>
              <a:t>•     C2: span plausibility (≥70s gap between hops)</a:t>
            </a:r>
          </a:p>
          <a:p>
            <a:pPr algn="l" marL="228600" indent="-137160">
              <a:spcAft>
                <a:spcPts val="600"/>
              </a:spcAft>
            </a:pPr>
            <a:r>
              <a:rPr sz="1500">
                <a:solidFill>
                  <a:srgbClr val="444466"/>
                </a:solidFill>
              </a:rPr>
              <a:t>•     C3: question type accuracy</a:t>
            </a:r>
          </a:p>
          <a:p>
            <a:pPr algn="l" marL="228600" indent="-137160">
              <a:spcAft>
                <a:spcPts val="600"/>
              </a:spcAft>
            </a:pPr>
            <a:r>
              <a:rPr sz="1500">
                <a:solidFill>
                  <a:srgbClr val="444466"/>
                </a:solidFill>
              </a:rPr>
              <a:t>•  Pass 2 — Cross-family check: pairs passing C1 re-evaluated by GPT-4o</a:t>
            </a:r>
          </a:p>
          <a:p>
            <a:pPr algn="l" marL="228600" indent="-137160">
              <a:spcAft>
                <a:spcPts val="600"/>
              </a:spcAft>
            </a:pPr>
            <a:r>
              <a:rPr sz="1500">
                <a:solidFill>
                  <a:srgbClr val="444466"/>
                </a:solidFill>
              </a:rPr>
              <a:t>•     Disagreement between models triggers rejection</a:t>
            </a:r>
          </a:p>
          <a:p>
            <a:pPr algn="l" marL="228600" indent="-137160">
              <a:spcAft>
                <a:spcPts val="600"/>
              </a:spcAft>
            </a:pPr>
            <a:r>
              <a:rPr sz="1500">
                <a:solidFill>
                  <a:srgbClr val="444466"/>
                </a:solidFill>
              </a:rPr>
              <a:t>•  Atomic fact decomposition (FActScore) before C1 check</a:t>
            </a:r>
          </a:p>
          <a:p>
            <a:pPr algn="l" marL="228600" indent="-137160">
              <a:spcAft>
                <a:spcPts val="600"/>
              </a:spcAft>
            </a:pPr>
            <a:r>
              <a:rPr sz="1500">
                <a:solidFill>
                  <a:srgbClr val="444466"/>
                </a:solidFill>
              </a:rPr>
              <a:t>•  Acceptance rate: ~90%  (810 accepted / 900 target)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1051560"/>
            <a:ext cx="11457432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 marL="274320"/>
            <a:r>
              <a:rPr sz="2800" b="1">
                <a:solidFill>
                  <a:srgbClr val="FFFFFF"/>
                </a:solidFill>
              </a:rPr>
              <a:t>Example QA Pair: Multi-hop Visual  (mit_6046_lec01_q017)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1051560"/>
            <a:ext cx="115214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155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Question (multi-hop-visual):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155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444466"/>
                </a:solidFill>
              </a:rPr>
              <a:t>What does the blackboard show as the theme of today's lecture, and how does the instructor connect this theme to the interval scheduling problems he discusses?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03120"/>
            <a:ext cx="11155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Ground-truth spans: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87168"/>
            <a:ext cx="11064240" cy="658368"/>
          </a:xfrm>
          <a:prstGeom prst="rect">
            <a:avLst/>
          </a:prstGeom>
          <a:solidFill>
            <a:srgbClr val="EEF4FF"/>
          </a:solidFill>
          <a:ln w="12700">
            <a:solidFill>
              <a:srgbClr val="4C7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23744"/>
            <a:ext cx="1078992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4C72B0"/>
                </a:solidFill>
              </a:rPr>
              <a:t>Hop 1  [10:20–11:15]  (visual) — frame caption: Blackboard shows "Theme of today's lecture — Very similar problems can have very different complexity."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200400"/>
            <a:ext cx="11064240" cy="658368"/>
          </a:xfrm>
          <a:prstGeom prst="rect">
            <a:avLst/>
          </a:prstGeom>
          <a:solidFill>
            <a:srgbClr val="FFF4EE"/>
          </a:solidFill>
          <a:ln w="12700">
            <a:solidFill>
              <a:srgbClr val="DD8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36976"/>
            <a:ext cx="1078992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DD8452"/>
                </a:solidFill>
              </a:rPr>
              <a:t>Hop 2  [79:35–80:40]  (transcript) — "…interval scheduling is greedy O(n); weighted interval scheduling requires O(n²) DP; non-identical machines is NP-complete…"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13632"/>
            <a:ext cx="11155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338833"/>
                </a:solidFill>
              </a:rPr>
              <a:t>Span gap:  4775 − 675 = 4100 s  (68 min)  &gt;&gt;  70 s required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5257800"/>
            <a:ext cx="11521440" cy="1188720"/>
          </a:xfrm>
          <a:prstGeom prst="rect">
            <a:avLst/>
          </a:prstGeom>
          <a:solidFill>
            <a:srgbClr val="E8ECF8"/>
          </a:solidFill>
          <a:ln w="12700">
            <a:solidFill>
              <a:srgbClr val="4C7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5669280"/>
            <a:ext cx="11521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1">
                <a:solidFill>
                  <a:srgbClr val="4C72B0"/>
                </a:solidFill>
              </a:rPr>
              <a:t>[ Insert Figure 3 — timeline diagram showing Hop 1 at 10:20 and Hop 2 at 79:35 with 68-min gap annotation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 marL="274320"/>
            <a:r>
              <a:rPr sz="2800" b="1">
                <a:solidFill>
                  <a:srgbClr val="FFFFFF"/>
                </a:solidFill>
              </a:rPr>
              <a:t>Evaluation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1143000"/>
            <a:ext cx="2651760" cy="45720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Temporal Grounding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143000"/>
            <a:ext cx="86868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444466"/>
                </a:solidFill>
              </a:rPr>
              <a:t>Mean Temporal IoU — overlap between predicted span (union of cited chunks) and ground-truth span.
IoU@0.3 / IoU@0.5 — fraction of pairs exceeding threshold.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2286000"/>
            <a:ext cx="11457432" cy="0"/>
          </a:xfrm>
          <a:prstGeom prst="line">
            <a:avLst/>
          </a:prstGeom>
          <a:ln w="12700">
            <a:solidFill>
              <a:srgbClr val="DD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2441448"/>
            <a:ext cx="2651760" cy="457200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Retrieval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441448"/>
            <a:ext cx="86868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444466"/>
                </a:solidFill>
              </a:rPr>
              <a:t>Hit Rate@k  (k ∈ {1, 3, 5}) — fraction of questions where the ground-truth span is covered by at least one of the top-k retrieved chunks at IoU ≥ 0.3.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3584448"/>
            <a:ext cx="11457432" cy="0"/>
          </a:xfrm>
          <a:prstGeom prst="line">
            <a:avLst/>
          </a:prstGeom>
          <a:ln w="12700">
            <a:solidFill>
              <a:srgbClr val="DD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20040" y="3739896"/>
            <a:ext cx="2651760" cy="457200"/>
          </a:xfrm>
          <a:prstGeom prst="rect">
            <a:avLst/>
          </a:prstGeom>
          <a:solidFill>
            <a:srgbClr val="55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Answer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739896"/>
            <a:ext cx="86868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444466"/>
                </a:solidFill>
              </a:rPr>
              <a:t>LLM-Judge Score (1–5) — GPT-4o scores the generated answer against the reference; 85% agreement with human experts (Zheng et al. 2023).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4882896"/>
            <a:ext cx="11457432" cy="0"/>
          </a:xfrm>
          <a:prstGeom prst="line">
            <a:avLst/>
          </a:prstGeom>
          <a:ln w="12700">
            <a:solidFill>
              <a:srgbClr val="DD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20040" y="5038344"/>
            <a:ext cx="265176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Citation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038344"/>
            <a:ext cx="86868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444466"/>
                </a:solidFill>
              </a:rPr>
              <a:t>Fraction of cited time spans that overlap the correct ground-truth evidence window. Measures whether the system knows what evidence it used.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" y="6181344"/>
            <a:ext cx="11457432" cy="0"/>
          </a:xfrm>
          <a:prstGeom prst="line">
            <a:avLst/>
          </a:prstGeom>
          <a:ln w="12700">
            <a:solidFill>
              <a:srgbClr val="DD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20040" y="6263640"/>
            <a:ext cx="11521440" cy="384048"/>
          </a:xfrm>
          <a:prstGeom prst="rect">
            <a:avLst/>
          </a:prstGeom>
          <a:solidFill>
            <a:srgbClr val="E8F4E8"/>
          </a:solidFill>
          <a:ln w="19050">
            <a:solidFill>
              <a:srgbClr val="55A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2E"/>
                </a:solidFill>
              </a:rPr>
              <a:t>Primary metric: mean tIoU — </a:t>
            </a:r>
          </a:p>
          <a:p>
            <a:r>
              <a:rPr sz="1400">
                <a:solidFill>
                  <a:srgbClr val="444466"/>
                </a:solidFill>
              </a:rPr>
              <a:t>At the ±25.8s span annotation error, tIoU@0.3 remains valid (IoU ≈ 0.4–0.6 at that error level).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 marL="274320"/>
            <a:r>
              <a:rPr sz="2800" b="1">
                <a:solidFill>
                  <a:srgbClr val="FFFFFF"/>
                </a:solidFill>
              </a:rPr>
              <a:t>Results: Single-Hop Questions  (n = 238)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1051560"/>
            <a:ext cx="2286000" cy="411480"/>
          </a:xfrm>
          <a:prstGeom prst="rect">
            <a:avLst/>
          </a:prstGeom>
          <a:solidFill>
            <a:srgbClr val="1A1A2E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2606040" y="1051560"/>
            <a:ext cx="1737360" cy="411480"/>
          </a:xfrm>
          <a:prstGeom prst="rect">
            <a:avLst/>
          </a:prstGeom>
          <a:solidFill>
            <a:srgbClr val="1A1A2E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Config 1
(Transcript-Only)</a:t>
            </a:r>
          </a:p>
        </p:txBody>
      </p:sp>
      <p:sp>
        <p:nvSpPr>
          <p:cNvPr id="5" name="Rectangle 4"/>
          <p:cNvSpPr/>
          <p:nvPr/>
        </p:nvSpPr>
        <p:spPr>
          <a:xfrm>
            <a:off x="4343400" y="1051560"/>
            <a:ext cx="1737360" cy="411480"/>
          </a:xfrm>
          <a:prstGeom prst="rect">
            <a:avLst/>
          </a:prstGeom>
          <a:solidFill>
            <a:srgbClr val="1A1A2E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Config 2
(+Frames)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0760" y="1051560"/>
            <a:ext cx="822960" cy="411480"/>
          </a:xfrm>
          <a:prstGeom prst="rect">
            <a:avLst/>
          </a:prstGeom>
          <a:solidFill>
            <a:srgbClr val="1A1A2E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Change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2286000" cy="411480"/>
          </a:xfrm>
          <a:prstGeom prst="rect">
            <a:avLst/>
          </a:prstGeom>
          <a:solidFill>
            <a:srgbClr val="FFF080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2E"/>
                </a:solidFill>
              </a:rPr>
              <a:t>Mean Temporal IoU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463040"/>
            <a:ext cx="1737360" cy="411480"/>
          </a:xfrm>
          <a:prstGeom prst="rect">
            <a:avLst/>
          </a:prstGeom>
          <a:solidFill>
            <a:srgbClr val="FFF080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1A1A2E"/>
                </a:solidFill>
              </a:rPr>
              <a:t>0.175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463040"/>
            <a:ext cx="1737360" cy="411480"/>
          </a:xfrm>
          <a:prstGeom prst="rect">
            <a:avLst/>
          </a:prstGeom>
          <a:solidFill>
            <a:srgbClr val="FFF080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1A1A2E"/>
                </a:solidFill>
              </a:rPr>
              <a:t>0.281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463040"/>
            <a:ext cx="822960" cy="411480"/>
          </a:xfrm>
          <a:prstGeom prst="rect">
            <a:avLst/>
          </a:prstGeom>
          <a:solidFill>
            <a:srgbClr val="FFF080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1A1A2E"/>
                </a:solidFill>
              </a:rPr>
              <a:t>+60%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874520"/>
            <a:ext cx="2286000" cy="41148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444466"/>
                </a:solidFill>
              </a:rPr>
              <a:t>IoU@0.3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1874520"/>
            <a:ext cx="1737360" cy="41148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0.248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874520"/>
            <a:ext cx="1737360" cy="41148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0.387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874520"/>
            <a:ext cx="822960" cy="41148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+56%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286000"/>
            <a:ext cx="2286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444466"/>
                </a:solidFill>
              </a:rPr>
              <a:t>IoU@0.5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40" y="2286000"/>
            <a:ext cx="1737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0.164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2286000"/>
            <a:ext cx="1737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0.290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2286000"/>
            <a:ext cx="8229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+77%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697480"/>
            <a:ext cx="2286000" cy="41148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444466"/>
                </a:solidFill>
              </a:rPr>
              <a:t>Hit Rate@1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06040" y="2697480"/>
            <a:ext cx="1737360" cy="41148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0.218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2697480"/>
            <a:ext cx="1737360" cy="41148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0.244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2697480"/>
            <a:ext cx="822960" cy="41148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+12%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108960"/>
            <a:ext cx="2286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444466"/>
                </a:solidFill>
              </a:rPr>
              <a:t>Hit Rate@3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40" y="3108960"/>
            <a:ext cx="1737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0.382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3108960"/>
            <a:ext cx="1737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0.420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3108960"/>
            <a:ext cx="8229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+10%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520440"/>
            <a:ext cx="2286000" cy="41148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444466"/>
                </a:solidFill>
              </a:rPr>
              <a:t>Hit Rate@5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06040" y="3520440"/>
            <a:ext cx="1737360" cy="41148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0.445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520440"/>
            <a:ext cx="1737360" cy="41148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0.529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3520440"/>
            <a:ext cx="822960" cy="41148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+19%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931920"/>
            <a:ext cx="2286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444466"/>
                </a:solidFill>
              </a:rPr>
              <a:t>LLM-Judge (1–5)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40" y="3931920"/>
            <a:ext cx="1737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2.68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931920"/>
            <a:ext cx="1737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3.53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0760" y="3931920"/>
            <a:ext cx="8229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+32%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343400"/>
            <a:ext cx="2286000" cy="411480"/>
          </a:xfrm>
          <a:prstGeom prst="rect">
            <a:avLst/>
          </a:prstGeom>
          <a:solidFill>
            <a:srgbClr val="FFF080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2E"/>
                </a:solidFill>
              </a:rPr>
              <a:t>Citation Accuracy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06040" y="4343400"/>
            <a:ext cx="1737360" cy="411480"/>
          </a:xfrm>
          <a:prstGeom prst="rect">
            <a:avLst/>
          </a:prstGeom>
          <a:solidFill>
            <a:srgbClr val="FFF080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1A1A2E"/>
                </a:solidFill>
              </a:rPr>
              <a:t>0.269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43400" y="4343400"/>
            <a:ext cx="1737360" cy="411480"/>
          </a:xfrm>
          <a:prstGeom prst="rect">
            <a:avLst/>
          </a:prstGeom>
          <a:solidFill>
            <a:srgbClr val="FFF080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1A1A2E"/>
                </a:solidFill>
              </a:rPr>
              <a:t>0.433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4343400"/>
            <a:ext cx="822960" cy="411480"/>
          </a:xfrm>
          <a:prstGeom prst="rect">
            <a:avLst/>
          </a:prstGeom>
          <a:solidFill>
            <a:srgbClr val="FFF080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1A1A2E"/>
                </a:solidFill>
              </a:rPr>
              <a:t>+61%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8040" y="11430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A1A2E"/>
                </a:solidFill>
              </a:rPr>
              <a:t>Key Observations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Config 2 wins on all 8 metrics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Largest gains: tIoU +60%, citation accuracy +61%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LLM-judge +32% — better retrieval → more accurate answers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Hit Rate gains are modest (+12% at k=1): frame captions improve the quality of retrieved chunks, not their presence in top-k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135/238 pairs (57%) are visual-dependent — these drive the large tIoU and citation gains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 marL="274320"/>
            <a:r>
              <a:rPr sz="2800" b="1">
                <a:solidFill>
                  <a:srgbClr val="FFFFFF"/>
                </a:solidFill>
              </a:rPr>
              <a:t>Results: Multi-Hop Questions  (n = 460)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1051560"/>
            <a:ext cx="2286000" cy="411480"/>
          </a:xfrm>
          <a:prstGeom prst="rect">
            <a:avLst/>
          </a:prstGeom>
          <a:solidFill>
            <a:srgbClr val="1A1A2E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2606040" y="1051560"/>
            <a:ext cx="1737360" cy="411480"/>
          </a:xfrm>
          <a:prstGeom prst="rect">
            <a:avLst/>
          </a:prstGeom>
          <a:solidFill>
            <a:srgbClr val="1A1A2E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Config 1
(Transcript-Only)</a:t>
            </a:r>
          </a:p>
        </p:txBody>
      </p:sp>
      <p:sp>
        <p:nvSpPr>
          <p:cNvPr id="5" name="Rectangle 4"/>
          <p:cNvSpPr/>
          <p:nvPr/>
        </p:nvSpPr>
        <p:spPr>
          <a:xfrm>
            <a:off x="4343400" y="1051560"/>
            <a:ext cx="1737360" cy="411480"/>
          </a:xfrm>
          <a:prstGeom prst="rect">
            <a:avLst/>
          </a:prstGeom>
          <a:solidFill>
            <a:srgbClr val="1A1A2E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Config 2
(+Frames)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0760" y="1051560"/>
            <a:ext cx="822960" cy="411480"/>
          </a:xfrm>
          <a:prstGeom prst="rect">
            <a:avLst/>
          </a:prstGeom>
          <a:solidFill>
            <a:srgbClr val="1A1A2E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Change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2286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444466"/>
                </a:solidFill>
              </a:rPr>
              <a:t>Mean Temporal IoU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463040"/>
            <a:ext cx="1737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0.180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463040"/>
            <a:ext cx="1737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0.204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463040"/>
            <a:ext cx="8229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+13%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874520"/>
            <a:ext cx="2286000" cy="41148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444466"/>
                </a:solidFill>
              </a:rPr>
              <a:t>IoU@0.3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1874520"/>
            <a:ext cx="1737360" cy="41148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0.274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874520"/>
            <a:ext cx="1737360" cy="41148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0.291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874520"/>
            <a:ext cx="822960" cy="41148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+6%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286000"/>
            <a:ext cx="2286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444466"/>
                </a:solidFill>
              </a:rPr>
              <a:t>IoU@0.5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40" y="2286000"/>
            <a:ext cx="1737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0.076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2286000"/>
            <a:ext cx="1737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0.072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2286000"/>
            <a:ext cx="8229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–5%*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697480"/>
            <a:ext cx="2286000" cy="41148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444466"/>
                </a:solidFill>
              </a:rPr>
              <a:t>Hit Rate@1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06040" y="2697480"/>
            <a:ext cx="1737360" cy="41148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0.326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2697480"/>
            <a:ext cx="1737360" cy="41148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0.341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2697480"/>
            <a:ext cx="822960" cy="41148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+5%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108960"/>
            <a:ext cx="2286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444466"/>
                </a:solidFill>
              </a:rPr>
              <a:t>Hit Rate@3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40" y="3108960"/>
            <a:ext cx="1737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0.563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3108960"/>
            <a:ext cx="1737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0.620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3108960"/>
            <a:ext cx="8229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+10%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520440"/>
            <a:ext cx="2286000" cy="41148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444466"/>
                </a:solidFill>
              </a:rPr>
              <a:t>Hit Rate@5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06040" y="3520440"/>
            <a:ext cx="1737360" cy="41148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0.676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520440"/>
            <a:ext cx="1737360" cy="41148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0.722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3520440"/>
            <a:ext cx="822960" cy="41148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+7%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931920"/>
            <a:ext cx="2286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444466"/>
                </a:solidFill>
              </a:rPr>
              <a:t>LLM-Judge (1–5)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40" y="3931920"/>
            <a:ext cx="1737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2.95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931920"/>
            <a:ext cx="1737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3.45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0760" y="3931920"/>
            <a:ext cx="8229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+17%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343400"/>
            <a:ext cx="2286000" cy="41148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444466"/>
                </a:solidFill>
              </a:rPr>
              <a:t>Citation Accuracy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06040" y="4343400"/>
            <a:ext cx="1737360" cy="41148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0.273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43400" y="4343400"/>
            <a:ext cx="1737360" cy="41148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0.333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4343400"/>
            <a:ext cx="822960" cy="41148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+22%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8040" y="114300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A1A2E"/>
                </a:solidFill>
              </a:rPr>
              <a:t>Key Observations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Config 2 wins 7/8 metrics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Smaller gains than single-hop (+13% tIoU vs +60%)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Mixed composition: 320/460 visual pairs benefit; 140/460 text-only show slight regression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Hit Rate@5 is 107% higher than Hit Rate@1 — multi-hop retrieval is k-sensitive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78040" y="4434840"/>
            <a:ext cx="46634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995555"/>
                </a:solidFill>
              </a:rPr>
              <a:t>* IoU@0.5 footnote: frame-augmented chunks are longer, widening the union span and reducing tIoU even when the correct chunk is retrieved.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78040" y="5349240"/>
            <a:ext cx="4663440" cy="1234440"/>
          </a:xfrm>
          <a:prstGeom prst="rect">
            <a:avLst/>
          </a:prstGeom>
          <a:solidFill>
            <a:srgbClr val="E8ECF8"/>
          </a:solidFill>
          <a:ln w="12700">
            <a:solidFill>
              <a:srgbClr val="4C7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78040" y="5760720"/>
            <a:ext cx="4663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1">
                <a:solidFill>
                  <a:srgbClr val="4C72B0"/>
                </a:solidFill>
              </a:rPr>
              <a:t>[ Insert Figure 4 — Hit Rate@k line plot 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 marL="274320"/>
            <a:r>
              <a:rPr sz="2800" b="1">
                <a:solidFill>
                  <a:srgbClr val="FFFFFF"/>
                </a:solidFill>
              </a:rPr>
              <a:t>Key Finding: Visual vs. Text-Only Question Split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1051560"/>
            <a:ext cx="2286000" cy="502920"/>
          </a:xfrm>
          <a:prstGeom prst="rect">
            <a:avLst/>
          </a:prstGeom>
          <a:solidFill>
            <a:srgbClr val="1A1A2E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Question 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2606040" y="1051560"/>
            <a:ext cx="1371600" cy="502920"/>
          </a:xfrm>
          <a:prstGeom prst="rect">
            <a:avLst/>
          </a:prstGeom>
          <a:solidFill>
            <a:srgbClr val="1A1A2E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Config 1
tIoU</a:t>
            </a:r>
          </a:p>
        </p:txBody>
      </p:sp>
      <p:sp>
        <p:nvSpPr>
          <p:cNvPr id="5" name="Rectangle 4"/>
          <p:cNvSpPr/>
          <p:nvPr/>
        </p:nvSpPr>
        <p:spPr>
          <a:xfrm>
            <a:off x="3977640" y="1051560"/>
            <a:ext cx="1280160" cy="502920"/>
          </a:xfrm>
          <a:prstGeom prst="rect">
            <a:avLst/>
          </a:prstGeom>
          <a:solidFill>
            <a:srgbClr val="1A1A2E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Config 1
Judge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57800" y="1051560"/>
            <a:ext cx="1371600" cy="502920"/>
          </a:xfrm>
          <a:prstGeom prst="rect">
            <a:avLst/>
          </a:prstGeom>
          <a:solidFill>
            <a:srgbClr val="1A1A2E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Config 1
Cit.Acc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9400" y="1051560"/>
            <a:ext cx="1371600" cy="502920"/>
          </a:xfrm>
          <a:prstGeom prst="rect">
            <a:avLst/>
          </a:prstGeom>
          <a:solidFill>
            <a:srgbClr val="1A1A2E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Config 2
tIoU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0" y="1051560"/>
            <a:ext cx="1280160" cy="502920"/>
          </a:xfrm>
          <a:prstGeom prst="rect">
            <a:avLst/>
          </a:prstGeom>
          <a:solidFill>
            <a:srgbClr val="1A1A2E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Config 2
Judge</a:t>
            </a:r>
          </a:p>
        </p:txBody>
      </p:sp>
      <p:sp>
        <p:nvSpPr>
          <p:cNvPr id="9" name="Rectangle 8"/>
          <p:cNvSpPr/>
          <p:nvPr/>
        </p:nvSpPr>
        <p:spPr>
          <a:xfrm>
            <a:off x="9281160" y="1051560"/>
            <a:ext cx="1371600" cy="502920"/>
          </a:xfrm>
          <a:prstGeom prst="rect">
            <a:avLst/>
          </a:prstGeom>
          <a:solidFill>
            <a:srgbClr val="1A1A2E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Config 2
Cit.Acc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54480"/>
            <a:ext cx="2286000" cy="502920"/>
          </a:xfrm>
          <a:prstGeom prst="rect">
            <a:avLst/>
          </a:prstGeom>
          <a:solidFill>
            <a:srgbClr val="FFF080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2E"/>
                </a:solidFill>
              </a:rPr>
              <a:t>Visual-dep.  (n=455)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1554480"/>
            <a:ext cx="1371600" cy="502920"/>
          </a:xfrm>
          <a:prstGeom prst="rect">
            <a:avLst/>
          </a:prstGeom>
          <a:solidFill>
            <a:srgbClr val="FFF080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1A1A2E"/>
                </a:solidFill>
              </a:rPr>
              <a:t>0.129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7640" y="1554480"/>
            <a:ext cx="1280160" cy="502920"/>
          </a:xfrm>
          <a:prstGeom prst="rect">
            <a:avLst/>
          </a:prstGeom>
          <a:solidFill>
            <a:srgbClr val="FFF080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1A1A2E"/>
                </a:solidFill>
              </a:rPr>
              <a:t>2.57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57800" y="1554480"/>
            <a:ext cx="1371600" cy="502920"/>
          </a:xfrm>
          <a:prstGeom prst="rect">
            <a:avLst/>
          </a:prstGeom>
          <a:solidFill>
            <a:srgbClr val="FFF080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1A1A2E"/>
                </a:solidFill>
              </a:rPr>
              <a:t>0.198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9400" y="1554480"/>
            <a:ext cx="1371600" cy="502920"/>
          </a:xfrm>
          <a:prstGeom prst="rect">
            <a:avLst/>
          </a:prstGeom>
          <a:solidFill>
            <a:srgbClr val="FFF080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1A1A2E"/>
                </a:solidFill>
              </a:rPr>
              <a:t>0.213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1554480"/>
            <a:ext cx="1280160" cy="502920"/>
          </a:xfrm>
          <a:prstGeom prst="rect">
            <a:avLst/>
          </a:prstGeom>
          <a:solidFill>
            <a:srgbClr val="FFF080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1A1A2E"/>
                </a:solidFill>
              </a:rPr>
              <a:t>3.52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81160" y="1554480"/>
            <a:ext cx="1371600" cy="502920"/>
          </a:xfrm>
          <a:prstGeom prst="rect">
            <a:avLst/>
          </a:prstGeom>
          <a:solidFill>
            <a:srgbClr val="FFF080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1A1A2E"/>
                </a:solidFill>
              </a:rPr>
              <a:t>0.340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057400"/>
            <a:ext cx="2286000" cy="50292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444466"/>
                </a:solidFill>
              </a:rPr>
              <a:t>Text-only    (n=243)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06040" y="2057400"/>
            <a:ext cx="1371600" cy="50292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0.271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77640" y="2057400"/>
            <a:ext cx="1280160" cy="50292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3.38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57800" y="2057400"/>
            <a:ext cx="1371600" cy="50292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0.409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29400" y="2057400"/>
            <a:ext cx="1371600" cy="50292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0.263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01000" y="2057400"/>
            <a:ext cx="1280160" cy="50292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3.41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81160" y="2057400"/>
            <a:ext cx="1371600" cy="502920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444466"/>
                </a:solidFill>
              </a:rPr>
              <a:t>0.418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514600"/>
            <a:ext cx="5577840" cy="1920240"/>
          </a:xfrm>
          <a:prstGeom prst="rect">
            <a:avLst/>
          </a:prstGeom>
          <a:solidFill>
            <a:srgbClr val="E0F4E0"/>
          </a:solidFill>
          <a:ln w="19050">
            <a:solidFill>
              <a:srgbClr val="55A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55A868"/>
                </a:solidFill>
              </a:rPr>
              <a:t>Visual-dependent questions</a:t>
            </a:r>
          </a:p>
          <a:p>
            <a:r>
              <a:rPr sz="1600">
                <a:solidFill>
                  <a:srgbClr val="444466"/>
                </a:solidFill>
              </a:rPr>
              <a:t>Frame captions yield:
  +65% tIoU   (0.129 → 0.213)
  +37% LLM-judge   (2.57 → 3.52)
  +72% citation accuracy   (0.198 → 0.340)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514600"/>
            <a:ext cx="5577840" cy="1920240"/>
          </a:xfrm>
          <a:prstGeom prst="rect">
            <a:avLst/>
          </a:prstGeom>
          <a:solidFill>
            <a:srgbClr val="FFF8F0"/>
          </a:solidFill>
          <a:ln w="19050">
            <a:solidFill>
              <a:srgbClr val="CC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E74C3C"/>
                </a:solidFill>
              </a:rPr>
              <a:t>Text-only questions</a:t>
            </a:r>
          </a:p>
          <a:p>
            <a:r>
              <a:rPr sz="1600">
                <a:solidFill>
                  <a:srgbClr val="444466"/>
                </a:solidFill>
              </a:rPr>
              <a:t>Essentially unchanged:
  –3% tIoU   (0.271 → 0.263)
  +1% LLM-judge   (3.38 → 3.41)
  +2% citation accuracy   (0.409 → 0.418)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663440"/>
            <a:ext cx="11521440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4736592"/>
            <a:ext cx="115214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Frame captions add signal only where visual evidence is required — and introduce no noise elsewhere.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 marL="274320"/>
            <a:r>
              <a:rPr sz="2800" b="1">
                <a:solidFill>
                  <a:srgbClr val="FFFFFF"/>
                </a:solidFill>
              </a:rPr>
              <a:t>Failure Mode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1051560"/>
            <a:ext cx="3749039" cy="2011680"/>
          </a:xfrm>
          <a:prstGeom prst="rect">
            <a:avLst/>
          </a:prstGeom>
          <a:solidFill>
            <a:srgbClr val="F5F7FF"/>
          </a:solidFill>
          <a:ln w="25400">
            <a:solidFill>
              <a:srgbClr val="4C7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9768" y="1115568"/>
            <a:ext cx="3529584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4C72B0"/>
                </a:solidFill>
              </a:rPr>
              <a:t>1. Span Inflation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1554480"/>
            <a:ext cx="3529584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444466"/>
                </a:solidFill>
              </a:rPr>
              <a:t>Entire 45s chunk cited when relevant evidence occupies only a fraction → tIoU penalty even when correct chunk is retrieved.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79392" y="1051560"/>
            <a:ext cx="3749039" cy="2011680"/>
          </a:xfrm>
          <a:prstGeom prst="rect">
            <a:avLst/>
          </a:prstGeom>
          <a:solidFill>
            <a:srgbClr val="FFEDED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115568"/>
            <a:ext cx="3529584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E74C3C"/>
                </a:solidFill>
              </a:rPr>
              <a:t>2. Visual Blindness  (Config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554480"/>
            <a:ext cx="3529584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444466"/>
                </a:solidFill>
              </a:rPr>
              <a:t>Answer appears only on a lecture slide — absent from spoken transcript. Config 2 recovers by reading the frame caption.
Mean tIoU:  0.129 → 0.213  (+65%)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38744" y="1051560"/>
            <a:ext cx="3749039" cy="2011680"/>
          </a:xfrm>
          <a:prstGeom prst="rect">
            <a:avLst/>
          </a:prstGeom>
          <a:solidFill>
            <a:srgbClr val="FFF5EE"/>
          </a:solidFill>
          <a:ln w="25400">
            <a:solidFill>
              <a:srgbClr val="DD8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1115568"/>
            <a:ext cx="3529584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DD8452"/>
                </a:solidFill>
              </a:rPr>
              <a:t>3. Partial Multi-hop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8472" y="1554480"/>
            <a:ext cx="3529584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444466"/>
                </a:solidFill>
              </a:rPr>
              <a:t>Retriever surfaces one hop at rank 1 but misses the second. Hit Rate@5 is 107% higher than Hit Rate@1 on multi-hop questions.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246120"/>
            <a:ext cx="115214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337560"/>
            <a:ext cx="11155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Visual-blindness case  (nyu_dl_week10_q008)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03320"/>
            <a:ext cx="11155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444466"/>
                </a:solidFill>
              </a:rPr>
              <a:t>Q: What are the three bullet points on the 'Why self-supervision?' slide?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096512"/>
            <a:ext cx="5303520" cy="1417320"/>
          </a:xfrm>
          <a:prstGeom prst="rect">
            <a:avLst/>
          </a:prstGeom>
          <a:solidFill>
            <a:srgbClr val="FFEDED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416052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74C3C"/>
                </a:solidFill>
              </a:rPr>
              <a:t>Config 1 — transcript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4507992"/>
            <a:ext cx="502920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44466"/>
                </a:solidFill>
              </a:rPr>
              <a:t>Answer: "The provided excerpts do not contain enough information."
LLM-judge: 1.5 / 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4096512"/>
            <a:ext cx="5623560" cy="1417320"/>
          </a:xfrm>
          <a:prstGeom prst="rect">
            <a:avLst/>
          </a:prstGeom>
          <a:solidFill>
            <a:srgbClr val="E0F4E0"/>
          </a:solidFill>
          <a:ln w="12700">
            <a:solidFill>
              <a:srgbClr val="55A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4160520"/>
            <a:ext cx="5349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55A868"/>
                </a:solidFill>
              </a:rPr>
              <a:t>Config 2 — same chunk + frame caption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4507992"/>
            <a:ext cx="5349240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44466"/>
                </a:solidFill>
              </a:rPr>
              <a:t>Frame caption: Slide 'Why self-supervision?' — (1) Helps us learn using observations; (2) Does not require exhaustive annotation; (3) Leverage multiple modalities.
LLM-judge: 5.0 / 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 marL="274320"/>
            <a:r>
              <a:rPr sz="2800" b="1">
                <a:solidFill>
                  <a:srgbClr val="FFFFFF"/>
                </a:solidFill>
              </a:rPr>
              <a:t>Hit Rate Analysis: k-Sensitivity of Multi-hop Retrieval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1051560"/>
            <a:ext cx="5943600" cy="5074920"/>
          </a:xfrm>
          <a:prstGeom prst="rect">
            <a:avLst/>
          </a:prstGeom>
          <a:solidFill>
            <a:srgbClr val="E8ECF8"/>
          </a:solidFill>
          <a:ln w="12700">
            <a:solidFill>
              <a:srgbClr val="4C7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3383280"/>
            <a:ext cx="5943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1">
                <a:solidFill>
                  <a:srgbClr val="4C72B0"/>
                </a:solidFill>
              </a:rPr>
              <a:t>[ Insert Figure 4 — fig_hr_at_k.pdf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143000"/>
            <a:ext cx="5394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A1A2E"/>
                </a:solidFill>
              </a:rPr>
              <a:t>Reading the plot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Solid lines = single-hop;  dashed = multi-hop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Config 2 (+Frames) is consistently above Config 1 at all k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Single-hop curves plateau early — first hop dominates at low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3200400"/>
            <a:ext cx="5394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A1A2E"/>
                </a:solidFill>
              </a:rPr>
              <a:t>Multi-hop curves: steep rise through k=5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Config 1:  HR@1 = 0.326  →  HR@5 = 0.676  (+107%)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Config 2:  HR@1 = 0.341  →  HR@5 = 0.722  (+112%)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The 2nd hop lands at rank 3–5, not rank 1</a:t>
            </a:r>
          </a:p>
          <a:p>
            <a:pPr algn="l" marL="228600" indent="-137160">
              <a:spcAft>
                <a:spcPts val="600"/>
              </a:spcAft>
            </a:pPr>
            <a:r>
              <a:rPr sz="1600">
                <a:solidFill>
                  <a:srgbClr val="444466"/>
                </a:solidFill>
              </a:rPr>
              <a:t>•  Larger k budgets would directly improve multi-hop performance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 marL="274320"/>
            <a:r>
              <a:rPr sz="2800" b="1">
                <a:solidFill>
                  <a:srgbClr val="FFFFFF"/>
                </a:solidFill>
              </a:rPr>
              <a:t>Summary of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1051560"/>
            <a:ext cx="2468880" cy="438912"/>
          </a:xfrm>
          <a:prstGeom prst="rect">
            <a:avLst/>
          </a:prstGeom>
          <a:solidFill>
            <a:srgbClr val="1A1A2E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2788920" y="1051560"/>
            <a:ext cx="1097280" cy="438912"/>
          </a:xfrm>
          <a:prstGeom prst="rect">
            <a:avLst/>
          </a:prstGeom>
          <a:solidFill>
            <a:srgbClr val="1A1A2E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Config 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86200" y="1051560"/>
            <a:ext cx="1097280" cy="438912"/>
          </a:xfrm>
          <a:prstGeom prst="rect">
            <a:avLst/>
          </a:prstGeom>
          <a:solidFill>
            <a:srgbClr val="1A1A2E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Config 2</a:t>
            </a:r>
          </a:p>
        </p:txBody>
      </p:sp>
      <p:sp>
        <p:nvSpPr>
          <p:cNvPr id="6" name="Rectangle 5"/>
          <p:cNvSpPr/>
          <p:nvPr/>
        </p:nvSpPr>
        <p:spPr>
          <a:xfrm>
            <a:off x="4983480" y="1051560"/>
            <a:ext cx="822960" cy="438912"/>
          </a:xfrm>
          <a:prstGeom prst="rect">
            <a:avLst/>
          </a:prstGeom>
          <a:solidFill>
            <a:srgbClr val="1A1A2E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Δ</a:t>
            </a:r>
          </a:p>
        </p:txBody>
      </p:sp>
      <p:sp>
        <p:nvSpPr>
          <p:cNvPr id="7" name="Rectangle 6"/>
          <p:cNvSpPr/>
          <p:nvPr/>
        </p:nvSpPr>
        <p:spPr>
          <a:xfrm>
            <a:off x="5806440" y="1051560"/>
            <a:ext cx="6035040" cy="438912"/>
          </a:xfrm>
          <a:prstGeom prst="rect">
            <a:avLst/>
          </a:prstGeom>
          <a:solidFill>
            <a:srgbClr val="1A1A2E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Where the gain comes from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90472"/>
            <a:ext cx="24688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44466"/>
                </a:solidFill>
              </a:rPr>
              <a:t>Mean tIoU (all)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1490472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0.154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86200" y="1490472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0.198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80" y="1490472"/>
            <a:ext cx="822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+29%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1490472"/>
            <a:ext cx="6035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Visual +65%, text 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929384"/>
            <a:ext cx="2468880" cy="438912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44466"/>
                </a:solidFill>
              </a:rPr>
              <a:t>IoU@0.3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1929384"/>
            <a:ext cx="1097280" cy="438912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0.228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1929384"/>
            <a:ext cx="1097280" cy="438912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0.279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1929384"/>
            <a:ext cx="822960" cy="438912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+22%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06440" y="1929384"/>
            <a:ext cx="6035040" cy="438912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368296"/>
            <a:ext cx="24688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44466"/>
                </a:solidFill>
              </a:rPr>
              <a:t>Hit Rate@5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88920" y="2368296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0.515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86200" y="2368296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0.565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368296"/>
            <a:ext cx="822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+10%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06440" y="2368296"/>
            <a:ext cx="6035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807208"/>
            <a:ext cx="2468880" cy="438912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44466"/>
                </a:solidFill>
              </a:rPr>
              <a:t>LLM-Judge (1–5)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88920" y="2807208"/>
            <a:ext cx="1097280" cy="438912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3.03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86200" y="2807208"/>
            <a:ext cx="1097280" cy="438912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3.56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83480" y="2807208"/>
            <a:ext cx="822960" cy="438912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+17%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06440" y="2807208"/>
            <a:ext cx="6035040" cy="438912"/>
          </a:xfrm>
          <a:prstGeom prst="rect">
            <a:avLst/>
          </a:prstGeom>
          <a:solidFill>
            <a:srgbClr val="F5F7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246120"/>
            <a:ext cx="24688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44466"/>
                </a:solidFill>
              </a:rPr>
              <a:t>Citation Accuracy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3246120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0.234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86200" y="3246120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0.316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83480" y="3246120"/>
            <a:ext cx="822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+35%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06440" y="3246120"/>
            <a:ext cx="6035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685032"/>
            <a:ext cx="2468880" cy="438912"/>
          </a:xfrm>
          <a:prstGeom prst="rect">
            <a:avLst/>
          </a:prstGeom>
          <a:solidFill>
            <a:srgbClr val="FFF080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1A2E"/>
                </a:solidFill>
              </a:rPr>
              <a:t>tIoU — visual (n=455)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88920" y="3685032"/>
            <a:ext cx="1097280" cy="438912"/>
          </a:xfrm>
          <a:prstGeom prst="rect">
            <a:avLst/>
          </a:prstGeom>
          <a:solidFill>
            <a:srgbClr val="FFF080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A1A2E"/>
                </a:solidFill>
              </a:rPr>
              <a:t>0.129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86200" y="3685032"/>
            <a:ext cx="1097280" cy="438912"/>
          </a:xfrm>
          <a:prstGeom prst="rect">
            <a:avLst/>
          </a:prstGeom>
          <a:solidFill>
            <a:srgbClr val="FFF080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A1A2E"/>
                </a:solidFill>
              </a:rPr>
              <a:t>0.213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83480" y="3685032"/>
            <a:ext cx="822960" cy="438912"/>
          </a:xfrm>
          <a:prstGeom prst="rect">
            <a:avLst/>
          </a:prstGeom>
          <a:solidFill>
            <a:srgbClr val="FFF080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A1A2E"/>
                </a:solidFill>
              </a:rPr>
              <a:t>+65%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06440" y="3685032"/>
            <a:ext cx="6035040" cy="438912"/>
          </a:xfrm>
          <a:prstGeom prst="rect">
            <a:avLst/>
          </a:prstGeom>
          <a:solidFill>
            <a:srgbClr val="FFF080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A1A2E"/>
                </a:solidFill>
              </a:rPr>
              <a:t>Frame caps expose slide text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123944"/>
            <a:ext cx="24688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44466"/>
                </a:solidFill>
              </a:rPr>
              <a:t>tIoU — text   (n=243)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88920" y="4123944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0.271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86200" y="4123944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0.263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83480" y="4123944"/>
            <a:ext cx="822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–3%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06440" y="4123944"/>
            <a:ext cx="6035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444466"/>
                </a:solidFill>
              </a:rPr>
              <a:t>No visual evidence needed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349240"/>
            <a:ext cx="5577840" cy="914400"/>
          </a:xfrm>
          <a:prstGeom prst="rect">
            <a:avLst/>
          </a:prstGeom>
          <a:solidFill>
            <a:srgbClr val="E8F4E8"/>
          </a:solidFill>
          <a:ln w="19050">
            <a:solidFill>
              <a:srgbClr val="55A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1A2E"/>
                </a:solidFill>
              </a:rPr>
              <a:t>What works</a:t>
            </a:r>
          </a:p>
          <a:p>
            <a:r>
              <a:rPr sz="1500">
                <a:solidFill>
                  <a:srgbClr val="444466"/>
                </a:solidFill>
              </a:rPr>
              <a:t>Frame captions close the visual-evidence gap precisely: +65% tIoU and +72% citation accuracy on visual-dependent questions.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5349240"/>
            <a:ext cx="5577840" cy="914400"/>
          </a:xfrm>
          <a:prstGeom prst="rect">
            <a:avLst/>
          </a:prstGeom>
          <a:solidFill>
            <a:srgbClr val="FFEDED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74C3C"/>
                </a:solidFill>
              </a:rPr>
              <a:t>Precise multimodal augmentation</a:t>
            </a:r>
          </a:p>
          <a:p>
            <a:r>
              <a:rPr sz="1500">
                <a:solidFill>
                  <a:srgbClr val="444466"/>
                </a:solidFill>
              </a:rPr>
              <a:t>No degradation on transcript-only questions (–3% tIoU, within noise). Frame captions add signal exactly where they should.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 marL="274320"/>
            <a:r>
              <a:rPr sz="2800" b="1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1143000"/>
            <a:ext cx="502920" cy="411480"/>
          </a:xfrm>
          <a:prstGeom prst="rect">
            <a:avLst/>
          </a:prstGeom>
          <a:solidFill>
            <a:srgbClr val="99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143000"/>
            <a:ext cx="1078992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444466"/>
                </a:solidFill>
              </a:rPr>
              <a:t>English-only corpus — limited to YouTube auto-captions; occasional transcription errors in technical terms.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2057400"/>
            <a:ext cx="11457432" cy="0"/>
          </a:xfrm>
          <a:prstGeom prst="line">
            <a:avLst/>
          </a:prstGeom>
          <a:ln w="12700">
            <a:solidFill>
              <a:srgbClr val="DD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2148840"/>
            <a:ext cx="502920" cy="411480"/>
          </a:xfrm>
          <a:prstGeom prst="rect">
            <a:avLst/>
          </a:prstGeom>
          <a:solidFill>
            <a:srgbClr val="99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78992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444466"/>
                </a:solidFill>
              </a:rPr>
              <a:t>LLM-only QA review — ground-truth spans estimated from chunk boundaries (±15–30s), not human-tightened.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3063240"/>
            <a:ext cx="11457432" cy="0"/>
          </a:xfrm>
          <a:prstGeom prst="line">
            <a:avLst/>
          </a:prstGeom>
          <a:ln w="12700">
            <a:solidFill>
              <a:srgbClr val="DD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20040" y="3154680"/>
            <a:ext cx="502920" cy="411480"/>
          </a:xfrm>
          <a:prstGeom prst="rect">
            <a:avLst/>
          </a:prstGeom>
          <a:solidFill>
            <a:srgbClr val="99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54680"/>
            <a:ext cx="1078992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444466"/>
                </a:solidFill>
              </a:rPr>
              <a:t>Frame captioner not fine-tuned — Qwen2-VL-7B occasionally misreads small mathematical notation on slides.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4069080"/>
            <a:ext cx="11457432" cy="0"/>
          </a:xfrm>
          <a:prstGeom prst="line">
            <a:avLst/>
          </a:prstGeom>
          <a:ln w="12700">
            <a:solidFill>
              <a:srgbClr val="DD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20040" y="4160520"/>
            <a:ext cx="502920" cy="411480"/>
          </a:xfrm>
          <a:prstGeom prst="rect">
            <a:avLst/>
          </a:prstGeom>
          <a:solidFill>
            <a:srgbClr val="99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160520"/>
            <a:ext cx="1078992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444466"/>
                </a:solidFill>
              </a:rPr>
              <a:t>Scale — 810 pairs across 60 lectures is smaller than existing benchmarks (EduVidQA: 5,252; LongVidSearch: 3,000). Justified by higher per-pair curation cost (temporal grounding + multi-hop validation + cross-family review).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" y="5074920"/>
            <a:ext cx="11457432" cy="0"/>
          </a:xfrm>
          <a:prstGeom prst="line">
            <a:avLst/>
          </a:prstGeom>
          <a:ln w="12700">
            <a:solidFill>
              <a:srgbClr val="DD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20040" y="5166360"/>
            <a:ext cx="502920" cy="411480"/>
          </a:xfrm>
          <a:prstGeom prst="rect">
            <a:avLst/>
          </a:prstGeom>
          <a:solidFill>
            <a:srgbClr val="999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66360"/>
            <a:ext cx="1078992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444466"/>
                </a:solidFill>
              </a:rPr>
              <a:t>Single embedding model — results specific to all-MiniLM-L6-v2; stronger embeddings may compress the gap.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 marL="274320"/>
            <a:r>
              <a:rPr sz="2800" b="1">
                <a:solidFill>
                  <a:srgbClr val="FFFFFF"/>
                </a:solidFill>
              </a:rPr>
              <a:t>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1152144"/>
            <a:ext cx="475488" cy="41148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115568"/>
            <a:ext cx="107899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4C72B0"/>
                </a:solidFill>
              </a:rPr>
              <a:t>Non-English lectures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99616"/>
            <a:ext cx="10789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444466"/>
                </a:solidFill>
              </a:rPr>
              <a:t>Extend the corpus to multilingual content and evaluate ASR quality as an independent variable.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2103120"/>
            <a:ext cx="11457432" cy="0"/>
          </a:xfrm>
          <a:prstGeom prst="line">
            <a:avLst/>
          </a:prstGeom>
          <a:ln w="12700">
            <a:solidFill>
              <a:srgbClr val="DD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20040" y="2249424"/>
            <a:ext cx="475488" cy="411480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12848"/>
            <a:ext cx="107899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DD8452"/>
                </a:solidFill>
              </a:rPr>
              <a:t>Semantic chunking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96896"/>
            <a:ext cx="10789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444466"/>
                </a:solidFill>
              </a:rPr>
              <a:t>Replace sliding-window with topic-boundary detection to produce semantically coherent chunks.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" y="3200400"/>
            <a:ext cx="11457432" cy="0"/>
          </a:xfrm>
          <a:prstGeom prst="line">
            <a:avLst/>
          </a:prstGeom>
          <a:ln w="12700">
            <a:solidFill>
              <a:srgbClr val="DD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20040" y="3346704"/>
            <a:ext cx="475488" cy="411480"/>
          </a:xfrm>
          <a:prstGeom prst="rect">
            <a:avLst/>
          </a:prstGeom>
          <a:solidFill>
            <a:srgbClr val="55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310128"/>
            <a:ext cx="107899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55A868"/>
                </a:solidFill>
              </a:rPr>
              <a:t>Joint text-visual embedding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694176"/>
            <a:ext cx="10789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444466"/>
                </a:solidFill>
              </a:rPr>
              <a:t>Train a lecture-specific encoder that maps frame+caption pairs into a shared retrieval space with transcript text.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" y="4297680"/>
            <a:ext cx="11457432" cy="0"/>
          </a:xfrm>
          <a:prstGeom prst="line">
            <a:avLst/>
          </a:prstGeom>
          <a:ln w="12700">
            <a:solidFill>
              <a:srgbClr val="DD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20040" y="4443984"/>
            <a:ext cx="475488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407408"/>
            <a:ext cx="107899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E74C3C"/>
                </a:solidFill>
              </a:rPr>
              <a:t>Stronger generators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791456"/>
            <a:ext cx="10789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444466"/>
                </a:solidFill>
              </a:rPr>
              <a:t>Evaluate GPT-4o and Claude Opus on the benchmark to measure the ceiling of RAG-constrained generation.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5760" y="5394960"/>
            <a:ext cx="11457432" cy="0"/>
          </a:xfrm>
          <a:prstGeom prst="line">
            <a:avLst/>
          </a:prstGeom>
          <a:ln w="12700">
            <a:solidFill>
              <a:srgbClr val="DD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20040" y="5541264"/>
            <a:ext cx="475488" cy="411480"/>
          </a:xfrm>
          <a:prstGeom prst="rect">
            <a:avLst/>
          </a:prstGeom>
          <a:solidFill>
            <a:srgbClr val="884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7899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8844AA"/>
                </a:solidFill>
              </a:rPr>
              <a:t>Selective frame augmentation  (most actionable)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888736"/>
            <a:ext cx="10789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444466"/>
                </a:solidFill>
              </a:rPr>
              <a:t>Attach captions only to chunks where visual evidence is detected — avoids the –5.5% tIoU signal dilution on text-only multi-hop pairs.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 marL="274320"/>
            <a:r>
              <a:rPr sz="28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5577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A1A2E"/>
                </a:solidFill>
              </a:rPr>
              <a:t>What we built</a:t>
            </a:r>
          </a:p>
          <a:p>
            <a:pPr algn="l" marL="228600" indent="-137160">
              <a:spcAft>
                <a:spcPts val="600"/>
              </a:spcAft>
            </a:pPr>
            <a:r>
              <a:rPr sz="1700">
                <a:solidFill>
                  <a:srgbClr val="444466"/>
                </a:solidFill>
              </a:rPr>
              <a:t>•  LectureBench — 810 temporally grounded QA pairs over 60 long lectures</a:t>
            </a:r>
          </a:p>
          <a:p>
            <a:pPr algn="l" marL="228600" indent="-137160">
              <a:spcAft>
                <a:spcPts val="600"/>
              </a:spcAft>
            </a:pPr>
            <a:r>
              <a:rPr sz="1700">
                <a:solidFill>
                  <a:srgbClr val="444466"/>
                </a:solidFill>
              </a:rPr>
              <a:t>•  Only benchmark combining multi-hop + temporal spans + visual split for lecture-length video</a:t>
            </a:r>
          </a:p>
          <a:p>
            <a:pPr algn="l" marL="228600" indent="-137160">
              <a:spcAft>
                <a:spcPts val="600"/>
              </a:spcAft>
            </a:pPr>
            <a:r>
              <a:rPr sz="1700">
                <a:solidFill>
                  <a:srgbClr val="444466"/>
                </a:solidFill>
              </a:rPr>
              <a:t>•  Open-source RAG pipeline with two configs and full evaluation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749039"/>
            <a:ext cx="5577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A1A2E"/>
                </a:solidFill>
              </a:rPr>
              <a:t>What we found</a:t>
            </a:r>
          </a:p>
          <a:p>
            <a:pPr algn="l" marL="228600" indent="-137160">
              <a:spcAft>
                <a:spcPts val="600"/>
              </a:spcAft>
            </a:pPr>
            <a:r>
              <a:rPr sz="1700">
                <a:solidFill>
                  <a:srgbClr val="444466"/>
                </a:solidFill>
              </a:rPr>
              <a:t>•  Frame captions: +65% tIoU on visual-dependent questions</a:t>
            </a:r>
          </a:p>
          <a:p>
            <a:pPr algn="l" marL="228600" indent="-137160">
              <a:spcAft>
                <a:spcPts val="600"/>
              </a:spcAft>
            </a:pPr>
            <a:r>
              <a:rPr sz="1700">
                <a:solidFill>
                  <a:srgbClr val="444466"/>
                </a:solidFill>
              </a:rPr>
              <a:t>•  Text-only questions: –3% (no degradation)</a:t>
            </a:r>
          </a:p>
          <a:p>
            <a:pPr algn="l" marL="228600" indent="-137160">
              <a:spcAft>
                <a:spcPts val="600"/>
              </a:spcAft>
            </a:pPr>
            <a:r>
              <a:rPr sz="1700">
                <a:solidFill>
                  <a:srgbClr val="444466"/>
                </a:solidFill>
              </a:rPr>
              <a:t>•  Multi-hop retrieval is k-sensitive — larger k budgets help</a:t>
            </a:r>
          </a:p>
          <a:p>
            <a:pPr algn="l" marL="228600" indent="-137160">
              <a:spcAft>
                <a:spcPts val="600"/>
              </a:spcAft>
            </a:pPr>
            <a:r>
              <a:rPr sz="1700">
                <a:solidFill>
                  <a:srgbClr val="444466"/>
                </a:solidFill>
              </a:rPr>
              <a:t>•  Visual blindness is a real, measurable failure mode in transcript-only RAG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051560"/>
            <a:ext cx="5623560" cy="4206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257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DD8452"/>
                </a:solidFill>
              </a:rPr>
              <a:t>The one-slide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25780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Adding Qwen2-VL-7B frame captions to lecture chunks improves temporally grounded retrieval by +65% on visual-dependent questions and leaves text-only questions unchanged — directly confirming that transcript-only RAG has a structural visual-evidence blind spot.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663440"/>
            <a:ext cx="5257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DD8452"/>
                </a:solidFill>
              </a:rPr>
              <a:t>github.com/NassimF/VQA-Benchmark  |  CC BY-NC-SA 4.0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88952" cy="73152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9418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418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0" i="0">
                <a:solidFill>
                  <a:srgbClr val="DD8452"/>
                </a:solidFill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418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i="0">
                <a:solidFill>
                  <a:srgbClr val="AABBDD"/>
                </a:solidFill>
              </a:rPr>
              <a:t>seyedehnasim.faridnia@utsa.edu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9418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i="0">
                <a:solidFill>
                  <a:srgbClr val="AABBDD"/>
                </a:solidFill>
              </a:rPr>
              <a:t>github.com/NassimF/VQA-Benchmark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754880"/>
            <a:ext cx="9418320" cy="1097280"/>
          </a:xfrm>
          <a:prstGeom prst="rect">
            <a:avLst/>
          </a:prstGeom>
          <a:solidFill>
            <a:srgbClr val="282848"/>
          </a:solidFill>
          <a:ln w="12700">
            <a:solidFill>
              <a:srgbClr val="55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828032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DD8452"/>
                </a:solidFill>
              </a:rPr>
              <a:t>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285232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AABBDD"/>
                </a:solidFill>
              </a:rPr>
              <a:t>lectures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4828032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DD8452"/>
                </a:solidFill>
              </a:rPr>
              <a:t>62.6h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5285232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AABBDD"/>
                </a:solidFill>
              </a:rPr>
              <a:t>total video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828032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DD8452"/>
                </a:solidFill>
              </a:rPr>
              <a:t>810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5285232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AABBDD"/>
                </a:solidFill>
              </a:rPr>
              <a:t>QA pairs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4828032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DD8452"/>
                </a:solidFill>
              </a:rPr>
              <a:t>+65%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5285232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AABBDD"/>
                </a:solidFill>
              </a:rPr>
              <a:t>visual tIoU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